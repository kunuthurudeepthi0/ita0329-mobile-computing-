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8" r:id="rId10"/>
    <p:sldId id="269" r:id="rId11"/>
    <p:sldId id="270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C9690-FF60-45FD-8AB0-1C9F9B3B1BFB}" v="34" dt="2026-02-12T09:13:42.266"/>
    <p1510:client id="{E67AF303-C077-4B95-9BE4-259B3C31439E}" v="9" dt="2026-02-13T03:32:58.4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017C1-87A4-494F-A7AC-0291AFA41638}" type="datetimeFigureOut">
              <a:rPr lang="en-IN" smtClean="0"/>
              <a:t>26-10-2026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C76DB-B9AE-438B-932E-04B0A7EA8F7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83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C76DB-B9AE-438B-932E-04B0A7EA8F78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91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9622" y="95849"/>
            <a:ext cx="743267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9313" y="1439453"/>
            <a:ext cx="10613372" cy="471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43"/>
            <a:ext cx="11994931" cy="11231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2800" y="1676400"/>
            <a:ext cx="7912180" cy="417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20845" marR="5080" indent="-4208780">
              <a:lnSpc>
                <a:spcPct val="102899"/>
              </a:lnSpc>
            </a:pPr>
            <a:r>
              <a:rPr lang="en-US" sz="2800" dirty="0"/>
              <a:t>ITA0329-MOBILE COMPUTING 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1219200" y="2093437"/>
            <a:ext cx="9547031" cy="1511952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algn="ctr"/>
            <a:r>
              <a:rPr lang="en-US" sz="3200" b="1" dirty="0">
                <a:solidFill>
                  <a:schemeClr val="accent5"/>
                </a:solidFill>
              </a:rPr>
              <a:t>"GSM Network Architecture &amp; Call Flow Simulator 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568" y="4267200"/>
            <a:ext cx="3274799" cy="1682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 </a:t>
            </a:r>
            <a:endParaRPr lang="en-IN" b="1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lang="en-IN" sz="1800" dirty="0" err="1">
                <a:latin typeface="Times New Roman"/>
                <a:cs typeface="Times New Roman"/>
              </a:rPr>
              <a:t>T.Rajashree</a:t>
            </a:r>
            <a:r>
              <a:rPr lang="en-IN" sz="1800" dirty="0">
                <a:latin typeface="Times New Roman"/>
                <a:cs typeface="Times New Roman"/>
              </a:rPr>
              <a:t>(192472393)</a:t>
            </a: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lang="en-IN" dirty="0" err="1">
                <a:latin typeface="Times New Roman"/>
                <a:cs typeface="Times New Roman"/>
              </a:rPr>
              <a:t>K.Deepthi</a:t>
            </a:r>
            <a:r>
              <a:rPr lang="en-IN" dirty="0">
                <a:latin typeface="Times New Roman"/>
                <a:cs typeface="Times New Roman"/>
              </a:rPr>
              <a:t>(192472211)</a:t>
            </a:r>
            <a:endParaRPr lang="en-IN"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1248" y="4890482"/>
            <a:ext cx="2086610" cy="871008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2000" dirty="0">
                <a:latin typeface="Times New Roman"/>
                <a:cs typeface="Times New Roman"/>
              </a:rPr>
              <a:t>GUIDED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50000"/>
              </a:lnSpc>
              <a:spcBef>
                <a:spcPts val="130"/>
              </a:spcBef>
            </a:pPr>
            <a:r>
              <a:rPr sz="1800" b="1" spc="-20" dirty="0" err="1">
                <a:latin typeface="Times New Roman"/>
                <a:cs typeface="Times New Roman"/>
              </a:rPr>
              <a:t>Dr.Saravanan.M.S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9622" y="95849"/>
            <a:ext cx="7432675" cy="851516"/>
          </a:xfrm>
          <a:prstGeom prst="rect">
            <a:avLst/>
          </a:prstGeom>
        </p:spPr>
        <p:txBody>
          <a:bodyPr vert="horz" wrap="square" lIns="0" tIns="355601" rIns="0" bIns="0" rtlCol="0">
            <a:spAutoFit/>
          </a:bodyPr>
          <a:lstStyle/>
          <a:p>
            <a:pPr marL="315595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INDEX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975838" y="1606769"/>
            <a:ext cx="6922770" cy="353494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ABSTRACT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INTRODUCTION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dirty="0">
                <a:latin typeface="Times New Roman"/>
                <a:cs typeface="Times New Roman"/>
              </a:rPr>
              <a:t>PROBLEM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5" dirty="0">
                <a:latin typeface="Times New Roman"/>
                <a:cs typeface="Times New Roman"/>
              </a:rPr>
              <a:t>STATEMENT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latin typeface="Times New Roman"/>
                <a:cs typeface="Times New Roman"/>
              </a:rPr>
              <a:t>PROPOSED SOLUTION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MODULES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RESULTS</a:t>
            </a:r>
            <a:endParaRPr lang="en-US" sz="2400" b="1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CONCLUSION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REFERENCES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14400" y="1600201"/>
            <a:ext cx="9448800" cy="44755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simulate and visualize the architecture and working process of a Global System for Mobile Communications (GSM) network.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It explains the major GSM components, including Mobile Station (MS), Base Transceiver Station (BTS), Base Station Controller (BSC), Mobile Switching Centre (MSC), HLR, VLR, and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It demonstrates the step-by-step process of mobile-originated and mobile-terminated calls.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It illustrates call establishment, subscriber authentication, location management, call routing, and call termination.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It visualizes the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messages exchanged between different GSM network components during communication.</a:t>
            </a:r>
          </a:p>
          <a:p>
            <a:pPr algn="just"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43" rIns="0" bIns="0" rtlCol="0">
            <a:spAutoFit/>
          </a:bodyPr>
          <a:lstStyle/>
          <a:p>
            <a:pPr marL="251587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ABSTRACT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9622" y="95849"/>
            <a:ext cx="7432675" cy="898709"/>
          </a:xfrm>
          <a:prstGeom prst="rect">
            <a:avLst/>
          </a:prstGeom>
        </p:spPr>
        <p:txBody>
          <a:bodyPr vert="horz" wrap="square" lIns="0" tIns="40233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0600" y="1676400"/>
            <a:ext cx="9372600" cy="3408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GSM (Global System for Mobile Communications) is a digital cellular communication technology used for voice calls, SMS, and other mobile services.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GSM provides a standard method for mobile devices to communicate through cellular networks.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network architecture consists of several components, including Mobile Station (MS), Base Transceiver Station (BTS), Base Station Controller (BSC), and Mobile Switching Centre (MSC).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network also uses databases such as the Home Location Register (HLR) and Visitor Location Register (VLR) to manage subscriber information and location details.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0" y="457200"/>
            <a:ext cx="91440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2645" marR="5080" indent="-210058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PROBLEM </a:t>
            </a:r>
            <a:r>
              <a:rPr sz="3200" spc="-70" dirty="0"/>
              <a:t>STATEMENTS</a:t>
            </a:r>
            <a:r>
              <a:rPr sz="3200" spc="-220" dirty="0"/>
              <a:t> </a:t>
            </a:r>
            <a:r>
              <a:rPr sz="3200" spc="-25" dirty="0"/>
              <a:t>AND </a:t>
            </a:r>
            <a:r>
              <a:rPr lang="en-IN" sz="3200" spc="-10" dirty="0"/>
              <a:t>PROPOSED SOLUTION</a:t>
            </a:r>
            <a:endParaRPr sz="3200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85801" y="1861063"/>
            <a:ext cx="9828430" cy="5296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GSM network architecture and its components can be difficult.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establishment involves multiple network elements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subscriber authentication may prevent call connection.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GSM network architecture using its major components, such as BTS, BSC, MSC, HLR, and VLR.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step-by-step call flow for incoming and outgoing calls.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subscriber authentication and location management.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F82C23-A193-BBD6-264F-7040697A8D98}"/>
              </a:ext>
            </a:extLst>
          </p:cNvPr>
          <p:cNvSpPr txBox="1"/>
          <p:nvPr/>
        </p:nvSpPr>
        <p:spPr>
          <a:xfrm>
            <a:off x="762001" y="1942508"/>
            <a:ext cx="7086599" cy="292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structure and components of a GSM network.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functions of MS, BTS, BSC, MSC, HLR, and VLR.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the connections and interactions between network components.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subscriber registration and network connectivity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757D7-C4E2-CD56-13B4-1477CDAA0B9F}"/>
              </a:ext>
            </a:extLst>
          </p:cNvPr>
          <p:cNvSpPr txBox="1"/>
          <p:nvPr/>
        </p:nvSpPr>
        <p:spPr>
          <a:xfrm>
            <a:off x="1129284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79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1EE1053-C7EF-8B48-6A7A-2BF88BC7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622" y="95849"/>
            <a:ext cx="8343578" cy="1231106"/>
          </a:xfrm>
        </p:spPr>
        <p:txBody>
          <a:bodyPr/>
          <a:lstStyle/>
          <a:p>
            <a:pPr algn="ctr"/>
            <a:r>
              <a:rPr lang="en-US" dirty="0"/>
              <a:t>Module 1:</a:t>
            </a:r>
            <a:r>
              <a:rPr lang="en-IN" dirty="0"/>
              <a:t>GSM Network Architecture Simulation</a:t>
            </a:r>
          </a:p>
        </p:txBody>
      </p:sp>
      <p:pic>
        <p:nvPicPr>
          <p:cNvPr id="4" name="Picture 3" descr="GSM in Wireless Communication - GeeksforGeeks">
            <a:extLst>
              <a:ext uri="{FF2B5EF4-FFF2-40B4-BE49-F238E27FC236}">
                <a16:creationId xmlns:a16="http://schemas.microsoft.com/office/drawing/2014/main" id="{BA1A1383-FA9B-BCE8-EA23-88E020790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1776412"/>
            <a:ext cx="4282440" cy="3305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83D1DE-4EE4-33BE-555E-811D4CF6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622" y="95849"/>
            <a:ext cx="7432675" cy="1846659"/>
          </a:xfrm>
        </p:spPr>
        <p:txBody>
          <a:bodyPr/>
          <a:lstStyle/>
          <a:p>
            <a:pPr algn="ctr"/>
            <a:r>
              <a:rPr lang="en-US" dirty="0"/>
              <a:t>Module 2:</a:t>
            </a:r>
            <a:r>
              <a:rPr lang="en-IN" dirty="0"/>
              <a:t>GSM Call Flow Simulation — Purpose</a:t>
            </a:r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F46E1-C82F-FEE9-3A8C-34164CD4FAC4}"/>
              </a:ext>
            </a:extLst>
          </p:cNvPr>
          <p:cNvSpPr txBox="1"/>
          <p:nvPr/>
        </p:nvSpPr>
        <p:spPr>
          <a:xfrm>
            <a:off x="533400" y="2057400"/>
            <a:ext cx="7239000" cy="362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process of incoming and outgoing calls in a GSM network.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messages exchanged during call establishment.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subscriber authentication, call routing, and channel allocation.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successful calls, call failures, and call termination procedures.</a:t>
            </a:r>
          </a:p>
          <a:p>
            <a:pPr lvl="0">
              <a:lnSpc>
                <a:spcPct val="15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47785-FCDA-0070-A052-9F68469C490D}"/>
              </a:ext>
            </a:extLst>
          </p:cNvPr>
          <p:cNvSpPr txBox="1"/>
          <p:nvPr/>
        </p:nvSpPr>
        <p:spPr>
          <a:xfrm>
            <a:off x="1129284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79"/>
                </a:solidFill>
              </a:defRPr>
            </a:pPr>
            <a:r>
              <a:rPr dirty="0"/>
              <a:t>7</a:t>
            </a: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B25ED932-A4F5-2D5D-A371-E6BF2982A9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14" name="object 3">
            <a:extLst>
              <a:ext uri="{FF2B5EF4-FFF2-40B4-BE49-F238E27FC236}">
                <a16:creationId xmlns:a16="http://schemas.microsoft.com/office/drawing/2014/main" id="{FD70DA7B-338B-6933-1BC5-16FA5D867B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pic>
        <p:nvPicPr>
          <p:cNvPr id="2" name="Picture 1" descr="GSM Basic architecture | Download Scientific Diagram">
            <a:extLst>
              <a:ext uri="{FF2B5EF4-FFF2-40B4-BE49-F238E27FC236}">
                <a16:creationId xmlns:a16="http://schemas.microsoft.com/office/drawing/2014/main" id="{CA4B9368-0E13-B8A6-924E-CA7D2C86B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2057400"/>
            <a:ext cx="4042096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49094" y="196705"/>
            <a:ext cx="2292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/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7000" y="1547717"/>
            <a:ext cx="10254400" cy="3408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simulated the GSM network architecture and its major components.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the connections between MS, BTS, BSC, MSC, HLR, and VLR.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subscriber registration and authentication procedures.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illustrated incoming and outgoing call flow processes.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messages exchanged between GSM network components.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call establishment, connection status, and call termination.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possible call failures due to authentication errors or network unavailability.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055" rIns="0" bIns="0" rtlCol="0">
            <a:spAutoFit/>
          </a:bodyPr>
          <a:lstStyle/>
          <a:p>
            <a:pPr marL="2354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0600" y="1676400"/>
            <a:ext cx="9808106" cy="4171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GSM Network Architecture &amp; Call Flow Simulator provides a clear understanding of GSM network structure and operations.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functions of major components such as MS, BTS, BSC, MSC, HLR, and VLR.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visualizes incoming and outgoing call flows step by step.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subscriber authentication, call routing,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connection establishment.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call failures and understand call termination procedures.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graphical simulation simplifies complex mobile communication concepts.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serves as an effective educational tool for learning GSM network architecture and call flow operations.</a:t>
            </a:r>
          </a:p>
          <a:p>
            <a:pPr marL="431165" marR="216535" indent="-4191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3116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394" rIns="0" bIns="0" rtlCol="0">
            <a:spAutoFit/>
          </a:bodyPr>
          <a:lstStyle/>
          <a:p>
            <a:pPr marL="2466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3000" y="1534509"/>
            <a:ext cx="10348344" cy="5417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Generation Partnership Project (3GPP). (2021). Digital Cellular Telecommunications System (GSM); Mobile Radio Interface Layer 3 Specification (3GPP TS 24.008). Describes GSM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procedures, call control, and mobility management.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- 3rd Generation Partnership Project (3GPP). (2022). Mobile Radio Interface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Core Network Protocols. Provides information about mobile network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communication procedures.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European Telecommunications Standards Institute (ETSI). (2023). GSM/EDGE Radio Access Network Specifications.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- 3rd Generation Partnership Project (3GPP). (2024). Mobile Radio Interface Layer 3 Specification (3GPP TS 24.008).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 Technology Committee (TTC). (2025). 3GPP Technical Specifications and Network Procedures. Provides technical documentation related to mobile network architecture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3rd Generation Partnership Project (3GPP). (2026). 3GPP Specifications for Mobile Communication Networks. </a:t>
            </a:r>
          </a:p>
          <a:p>
            <a:pPr marL="354965" marR="767080" indent="-3429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2321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7" name="Picture 6" descr="Thank you Images - Free Download on Magnific (formerly Freepik)">
            <a:extLst>
              <a:ext uri="{FF2B5EF4-FFF2-40B4-BE49-F238E27FC236}">
                <a16:creationId xmlns:a16="http://schemas.microsoft.com/office/drawing/2014/main" id="{DCAF7CB3-A787-1387-1233-7F94D4259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2438400"/>
            <a:ext cx="5257800" cy="2607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808</Words>
  <Application>Microsoft Office PowerPoint</Application>
  <PresentationFormat>Widescreen</PresentationFormat>
  <Paragraphs>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ITA0329-MOBILE COMPUTING </vt:lpstr>
      <vt:lpstr>INDEX</vt:lpstr>
      <vt:lpstr>ABSTRACT</vt:lpstr>
      <vt:lpstr>INTRODUCTION</vt:lpstr>
      <vt:lpstr>PROBLEM STATEMENTS AND PROPOSED SOLUTION</vt:lpstr>
      <vt:lpstr>Module 1:GSM Network Architecture Simulation</vt:lpstr>
      <vt:lpstr>Module 2:GSM Call Flow Simulation — Purpose </vt:lpstr>
      <vt:lpstr>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Model-Presentation.pptx</dc:title>
  <dc:creator>Anajali's</dc:creator>
  <cp:lastModifiedBy>T RAJASHREE</cp:lastModifiedBy>
  <cp:revision>12</cp:revision>
  <dcterms:created xsi:type="dcterms:W3CDTF">2026-02-07T08:58:37Z</dcterms:created>
  <dcterms:modified xsi:type="dcterms:W3CDTF">2026-10-26T16:12:09Z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2026-02-07T00:00:00Z</vt:filetime>
  </property>
</Properties>
</file>